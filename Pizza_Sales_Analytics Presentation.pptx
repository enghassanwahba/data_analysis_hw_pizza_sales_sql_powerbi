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2624</c:v>
                </c:pt>
                <c:pt idx="1">
                  <c:v>2794</c:v>
                </c:pt>
                <c:pt idx="2">
                  <c:v>2973</c:v>
                </c:pt>
                <c:pt idx="3">
                  <c:v>3024</c:v>
                </c:pt>
                <c:pt idx="4">
                  <c:v>3239</c:v>
                </c:pt>
                <c:pt idx="5">
                  <c:v>3538</c:v>
                </c:pt>
                <c:pt idx="6">
                  <c:v>3158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1845</c:v>
                </c:pt>
                <c:pt idx="1">
                  <c:v>1685</c:v>
                </c:pt>
                <c:pt idx="2">
                  <c:v>1840</c:v>
                </c:pt>
                <c:pt idx="3">
                  <c:v>1799</c:v>
                </c:pt>
                <c:pt idx="4">
                  <c:v>1853</c:v>
                </c:pt>
                <c:pt idx="5">
                  <c:v>1773</c:v>
                </c:pt>
                <c:pt idx="6">
                  <c:v>1935</c:v>
                </c:pt>
                <c:pt idx="7">
                  <c:v>1841</c:v>
                </c:pt>
                <c:pt idx="8">
                  <c:v>1661</c:v>
                </c:pt>
                <c:pt idx="9">
                  <c:v>1646</c:v>
                </c:pt>
                <c:pt idx="10">
                  <c:v>1792</c:v>
                </c:pt>
                <c:pt idx="11">
                  <c:v>1680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5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sales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Classic</c:v>
                  </c:pt>
                  <c:pt idx="1">
                    <c:v>Supreme</c:v>
                  </c:pt>
                  <c:pt idx="2">
                    <c:v>Chicken</c:v>
                  </c:pt>
                  <c:pt idx="3">
                    <c:v>Veggie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26.91</c:v>
                </c:pt>
                <c:pt idx="1">
                  <c:v>25.46</c:v>
                </c:pt>
                <c:pt idx="2">
                  <c:v>23.96</c:v>
                </c:pt>
                <c:pt idx="3">
                  <c:v>23.68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sales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</c:v>
                  </c:pt>
                  <c:pt idx="1">
                    <c:v>M</c:v>
                  </c:pt>
                  <c:pt idx="2">
                    <c:v>L</c:v>
                  </c:pt>
                  <c:pt idx="3">
                    <c:v>XL</c:v>
                  </c:pt>
                  <c:pt idx="4">
                    <c:v>XXL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21.77</c:v>
                </c:pt>
                <c:pt idx="1">
                  <c:v>30.49</c:v>
                </c:pt>
                <c:pt idx="2">
                  <c:v>45.89</c:v>
                </c:pt>
                <c:pt idx="3">
                  <c:v>1.72</c:v>
                </c:pt>
                <c:pt idx="4">
                  <c:v>0.12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Thai Chicken</c:v>
                  </c:pt>
                  <c:pt idx="1">
                    <c:v>Pepperoni</c:v>
                  </c:pt>
                  <c:pt idx="2">
                    <c:v>Hawaiian</c:v>
                  </c:pt>
                  <c:pt idx="3">
                    <c:v>Barbecue Chicken</c:v>
                  </c:pt>
                  <c:pt idx="4">
                    <c:v>Classic Deluxe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2371</c:v>
                </c:pt>
                <c:pt idx="1">
                  <c:v>2418</c:v>
                </c:pt>
                <c:pt idx="2">
                  <c:v>2422</c:v>
                </c:pt>
                <c:pt idx="3">
                  <c:v>2432</c:v>
                </c:pt>
                <c:pt idx="4">
                  <c:v>2453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Soppressata</c:v>
                  </c:pt>
                  <c:pt idx="1">
                    <c:v>Spinach Supreme</c:v>
                  </c:pt>
                  <c:pt idx="2">
                    <c:v>Calabrese</c:v>
                  </c:pt>
                  <c:pt idx="3">
                    <c:v>Mediterranean</c:v>
                  </c:pt>
                  <c:pt idx="4">
                    <c:v>Brie Carre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961</c:v>
                </c:pt>
                <c:pt idx="1">
                  <c:v>950</c:v>
                </c:pt>
                <c:pt idx="2">
                  <c:v>937</c:v>
                </c:pt>
                <c:pt idx="3">
                  <c:v>934</c:v>
                </c:pt>
                <c:pt idx="4">
                  <c:v>490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Pizza Sales Analytics project: SQL Server views feeding an executive Power BI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09728" cy="1463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 Analytics Project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views + Power BI dashboard · 2015 sales performance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Eng: Hassan Wahba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0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 from the pizza_sales dataset (12 fields)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$817.86K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5544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$38.31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15544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49,574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 sold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15544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21,350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18288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2.32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560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pizzas / order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row-level store logs into insight that reduces inventory overhead and matches staffing to demand.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0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pipeline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transactions to executive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0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decoupled views (KPIs, rankings, trends, shares) shield BI from raw row scans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6D28D9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import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31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17 views, validate types in Power Query, Close &amp; Apply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0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331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pages: Home &amp; Macro Sales, and Best/Worst Sellers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0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Thu–Sat and in summer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weekday and by month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28016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the busiest day (3,538 orders). July leads the year (1,935), followed by May and August.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0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and Large lead sales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revenue (%) by category and by size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28016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also sells the most pizzas (14,888). Large pizzas bring in 45.89% of revenue; XL and XXL are marginal.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0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and worst sellers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vs bottom 5 pizzas by quantity sold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6304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663440" y="146304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Chicken is the top revenue pizza ($43.43K). Brie Carre is last on quantity, orders (480) and revenue ($11.6K).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0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1: Home &amp; Macro Sales</a:t>
            </a:r>
            <a:endParaRPr lang="en-US" sz="2600" dirty="0"/>
          </a:p>
        </p:txBody>
      </p:sp>
      <p:pic>
        <p:nvPicPr>
          <p:cNvPr id="4" name="Image 0" descr="/home/claude/img/i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05840"/>
            <a:ext cx="65836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0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2: Best &amp; Worst Sellers</a:t>
            </a:r>
            <a:endParaRPr lang="en-US" sz="2600" dirty="0"/>
          </a:p>
        </p:txBody>
      </p:sp>
      <p:pic>
        <p:nvPicPr>
          <p:cNvPr id="4" name="Image 0" descr="/home/claude/img/i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05840"/>
            <a:ext cx="6583680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0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up for Thursday, Friday and Saturday; plan for the July, May and August peaks.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is the strongest category; Large is the size that drives revenue.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Chicken leads revenue, Classic Deluxe leads volume.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 Carre underperforms on every metric: a candidate for menu review.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github.com/enghassanwahba/Data_Analysis_HW_Pizza_Sales_SQL_PowerBI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Eng: Hassan Wahba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Analytics Project</dc:title>
  <dc:subject>PptxGenJS Presentation</dc:subject>
  <dc:creator>PptxGenJS</dc:creator>
  <cp:lastModifiedBy>PptxGenJS</cp:lastModifiedBy>
  <cp:revision>1</cp:revision>
  <dcterms:created xsi:type="dcterms:W3CDTF">2026-10-07T13:33:17Z</dcterms:created>
  <dcterms:modified xsi:type="dcterms:W3CDTF">2026-10-07T13:33:17Z</dcterms:modified>
</cp:coreProperties>
</file>